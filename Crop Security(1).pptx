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  <p:sldId id="267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;p2"/>
          <p:cNvSpPr/>
          <p:nvPr/>
        </p:nvSpPr>
        <p:spPr>
          <a:xfrm rot="10800000" flipH="1">
            <a:off x="-360" y="385236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53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28760" y="2966040"/>
            <a:ext cx="6376320" cy="163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46120" y="355680"/>
            <a:ext cx="8169120" cy="2610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8;p11"/>
          <p:cNvSpPr/>
          <p:nvPr/>
        </p:nvSpPr>
        <p:spPr>
          <a:xfrm>
            <a:off x="0" y="-252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288080"/>
            <a:ext cx="6575760" cy="152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3;p13"/>
          <p:cNvSpPr/>
          <p:nvPr/>
        </p:nvSpPr>
        <p:spPr>
          <a:xfrm rot="5400000" flipH="1">
            <a:off x="5924520" y="1926360"/>
            <a:ext cx="514548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6120" y="444960"/>
            <a:ext cx="8168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7577280" y="1484280"/>
            <a:ext cx="8467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7577280" y="3085560"/>
            <a:ext cx="8467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7577280" y="2018880"/>
            <a:ext cx="8467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7577280" y="3620880"/>
            <a:ext cx="8467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7577280" y="2549880"/>
            <a:ext cx="8467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7577280" y="4156560"/>
            <a:ext cx="8467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68;p14"/>
          <p:cNvSpPr/>
          <p:nvPr/>
        </p:nvSpPr>
        <p:spPr>
          <a:xfrm rot="16200000">
            <a:off x="-1926360" y="1926360"/>
            <a:ext cx="514548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07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20732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1;p15"/>
          <p:cNvSpPr/>
          <p:nvPr/>
        </p:nvSpPr>
        <p:spPr>
          <a:xfrm rot="10800000" flipH="1">
            <a:off x="-360" y="385236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53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74;p16"/>
          <p:cNvSpPr/>
          <p:nvPr/>
        </p:nvSpPr>
        <p:spPr>
          <a:xfrm rot="5400000" flipH="1">
            <a:off x="5924520" y="1926360"/>
            <a:ext cx="514548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201200" y="539640"/>
            <a:ext cx="4513680" cy="219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78;p17"/>
          <p:cNvSpPr/>
          <p:nvPr/>
        </p:nvSpPr>
        <p:spPr>
          <a:xfrm rot="16200000">
            <a:off x="-1926360" y="1926360"/>
            <a:ext cx="514548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07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46120" y="2350440"/>
            <a:ext cx="2956320" cy="225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599640" y="2350440"/>
            <a:ext cx="5115240" cy="27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83;p18"/>
          <p:cNvSpPr/>
          <p:nvPr/>
        </p:nvSpPr>
        <p:spPr>
          <a:xfrm rot="10800000" flipH="1">
            <a:off x="-360" y="385236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53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46120" y="444960"/>
            <a:ext cx="8177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46120" y="2514600"/>
            <a:ext cx="2678760" cy="140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295440" y="2514600"/>
            <a:ext cx="2678760" cy="140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045120" y="2514600"/>
            <a:ext cx="2678760" cy="140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95;p19"/>
          <p:cNvSpPr/>
          <p:nvPr/>
        </p:nvSpPr>
        <p:spPr>
          <a:xfrm>
            <a:off x="0" y="-252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6;p20"/>
          <p:cNvSpPr/>
          <p:nvPr/>
        </p:nvSpPr>
        <p:spPr>
          <a:xfrm rot="5400000" flipH="1">
            <a:off x="5924520" y="1926360"/>
            <a:ext cx="514548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160" y="634680"/>
            <a:ext cx="28486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3733920" y="69660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713160" y="1970640"/>
            <a:ext cx="28486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3781440" y="1752480"/>
            <a:ext cx="4171320" cy="339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4;p3"/>
          <p:cNvSpPr/>
          <p:nvPr/>
        </p:nvSpPr>
        <p:spPr>
          <a:xfrm>
            <a:off x="0" y="-252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413960" y="539640"/>
            <a:ext cx="4383360" cy="134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title"/>
          </p:nvPr>
        </p:nvSpPr>
        <p:spPr>
          <a:xfrm>
            <a:off x="422640" y="539640"/>
            <a:ext cx="15519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 Sans"/>
                <a:ea typeface="Cal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546120" y="1993320"/>
            <a:ext cx="8169120" cy="2610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15;p21"/>
          <p:cNvSpPr/>
          <p:nvPr/>
        </p:nvSpPr>
        <p:spPr>
          <a:xfrm>
            <a:off x="0" y="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099160" y="1353960"/>
            <a:ext cx="37872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Google Shape;118;p21"/>
          <p:cNvSpPr/>
          <p:nvPr/>
        </p:nvSpPr>
        <p:spPr>
          <a:xfrm>
            <a:off x="2099160" y="3471480"/>
            <a:ext cx="378720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Teachers"/>
                <a:ea typeface="Teacher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Teachers"/>
                <a:ea typeface="Teacher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Teachers"/>
                <a:ea typeface="Teacher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Teachers"/>
                <a:ea typeface="Teacher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Teachers"/>
                <a:ea typeface="Teacher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Teachers"/>
                <a:ea typeface="Teacher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20;p22"/>
          <p:cNvSpPr/>
          <p:nvPr/>
        </p:nvSpPr>
        <p:spPr>
          <a:xfrm rot="10800000" flipH="1">
            <a:off x="-360" y="385236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53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22;p23"/>
          <p:cNvSpPr/>
          <p:nvPr/>
        </p:nvSpPr>
        <p:spPr>
          <a:xfrm rot="5400000" flipH="1">
            <a:off x="5924520" y="1926360"/>
            <a:ext cx="514548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6" name="Google Shape;21;p4"/>
          <p:cNvSpPr/>
          <p:nvPr/>
        </p:nvSpPr>
        <p:spPr>
          <a:xfrm rot="10800000" flipH="1">
            <a:off x="-360" y="385236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53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3;p5"/>
          <p:cNvSpPr/>
          <p:nvPr/>
        </p:nvSpPr>
        <p:spPr>
          <a:xfrm rot="16200000">
            <a:off x="-1926360" y="1926360"/>
            <a:ext cx="514548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07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46120" y="444960"/>
            <a:ext cx="8168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30;p6"/>
          <p:cNvSpPr/>
          <p:nvPr/>
        </p:nvSpPr>
        <p:spPr>
          <a:xfrm>
            <a:off x="0" y="-252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46120" y="437400"/>
            <a:ext cx="8168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33;p7"/>
          <p:cNvSpPr/>
          <p:nvPr/>
        </p:nvSpPr>
        <p:spPr>
          <a:xfrm rot="16200000">
            <a:off x="-1926360" y="1926360"/>
            <a:ext cx="514548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07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46120" y="2350440"/>
            <a:ext cx="2956320" cy="225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599640" y="2350440"/>
            <a:ext cx="5115240" cy="27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5" name="Google Shape;39;p8"/>
          <p:cNvSpPr/>
          <p:nvPr/>
        </p:nvSpPr>
        <p:spPr>
          <a:xfrm rot="16200000">
            <a:off x="-1926360" y="1926360"/>
            <a:ext cx="514548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107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41;p9"/>
          <p:cNvSpPr/>
          <p:nvPr/>
        </p:nvSpPr>
        <p:spPr>
          <a:xfrm rot="10800000" flipH="1">
            <a:off x="-360" y="3852360"/>
            <a:ext cx="9143640" cy="1291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81000">
                <a:srgbClr val="E8F6FF"/>
              </a:gs>
              <a:gs pos="100000">
                <a:srgbClr val="D0EDFF"/>
              </a:gs>
            </a:gsLst>
            <a:lin ang="53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28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31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893444" y="3113494"/>
            <a:ext cx="3613156" cy="65968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500" b="0" u="none" strike="noStrike" dirty="0" smtClean="0">
                <a:solidFill>
                  <a:schemeClr val="dk1"/>
                </a:solidFill>
                <a:effectLst/>
                <a:uFillTx/>
                <a:latin typeface="Californian FB" panose="0207040306080B030204" pitchFamily="18" charset="0"/>
                <a:ea typeface="Cal Sans"/>
              </a:rPr>
              <a:t>Crop</a:t>
            </a:r>
            <a:r>
              <a:rPr lang="fr-FR" sz="4500" dirty="0">
                <a:solidFill>
                  <a:schemeClr val="dk1"/>
                </a:solidFill>
                <a:latin typeface="Californian FB" panose="0207040306080B030204" pitchFamily="18" charset="0"/>
              </a:rPr>
              <a:t> </a:t>
            </a:r>
            <a:r>
              <a:rPr lang="fr-FR" sz="4500" dirty="0" smtClean="0">
                <a:solidFill>
                  <a:schemeClr val="dk1"/>
                </a:solidFill>
                <a:latin typeface="Californian FB" panose="0207040306080B030204" pitchFamily="18" charset="0"/>
              </a:rPr>
              <a:t> </a:t>
            </a:r>
            <a:r>
              <a:rPr lang="en-US" sz="4500" b="0" u="none" strike="noStrike" dirty="0" smtClean="0">
                <a:solidFill>
                  <a:schemeClr val="dk1"/>
                </a:solidFill>
                <a:effectLst/>
                <a:uFillTx/>
                <a:latin typeface="Californian FB" panose="0207040306080B030204" pitchFamily="18" charset="0"/>
                <a:ea typeface="Cal Sans"/>
              </a:rPr>
              <a:t>Security</a:t>
            </a:r>
            <a:endParaRPr lang="fr-FR" sz="4500" b="0" u="none" strike="noStrike" dirty="0">
              <a:solidFill>
                <a:schemeClr val="dk1"/>
              </a:solidFill>
              <a:effectLst/>
              <a:uFillTx/>
              <a:latin typeface="Californian FB" panose="0207040306080B030204" pitchFamily="18" charset="0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2576496" y="3631132"/>
            <a:ext cx="3563902" cy="57899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/>
          <a:p>
            <a:pPr indent="0" algn="r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Berlin Sans FB Demi" panose="020E0802020502020306" pitchFamily="34" charset="0"/>
                <a:ea typeface="Teachers"/>
              </a:rPr>
              <a:t>Safe Eco-Friendly System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Berlin Sans FB Demi" panose="020E0802020502020306" pitchFamily="34" charset="0"/>
            </a:endParaRPr>
          </a:p>
        </p:txBody>
      </p:sp>
      <p:pic>
        <p:nvPicPr>
          <p:cNvPr id="67" name="Google Shape;140;p28"/>
          <p:cNvPicPr/>
          <p:nvPr/>
        </p:nvPicPr>
        <p:blipFill>
          <a:blip r:embed="rId2"/>
          <a:srcRect l="1420" t="12749" b="39984"/>
          <a:stretch/>
        </p:blipFill>
        <p:spPr>
          <a:xfrm>
            <a:off x="546120" y="355680"/>
            <a:ext cx="8168760" cy="261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/>
          <p:cNvSpPr txBox="1"/>
          <p:nvPr/>
        </p:nvSpPr>
        <p:spPr>
          <a:xfrm flipH="1">
            <a:off x="6888543" y="3666172"/>
            <a:ext cx="2920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echnicBold" panose="00000400000000000000" pitchFamily="2" charset="2"/>
              </a:rPr>
              <a:t>TEAM MEMBERS</a:t>
            </a:r>
          </a:p>
          <a:p>
            <a:r>
              <a:rPr lang="en-US" dirty="0" err="1" smtClean="0">
                <a:latin typeface="TechnicBold" panose="00000400000000000000" pitchFamily="2" charset="2"/>
              </a:rPr>
              <a:t>Sharmatha</a:t>
            </a:r>
            <a:r>
              <a:rPr lang="en-US" dirty="0" smtClean="0">
                <a:latin typeface="TechnicBold" panose="00000400000000000000" pitchFamily="2" charset="2"/>
              </a:rPr>
              <a:t> </a:t>
            </a:r>
            <a:r>
              <a:rPr lang="en-US" dirty="0" err="1" smtClean="0">
                <a:latin typeface="TechnicBold" panose="00000400000000000000" pitchFamily="2" charset="2"/>
              </a:rPr>
              <a:t>Sree</a:t>
            </a:r>
            <a:r>
              <a:rPr lang="en-US" dirty="0" smtClean="0">
                <a:latin typeface="TechnicBold" panose="00000400000000000000" pitchFamily="2" charset="2"/>
              </a:rPr>
              <a:t> P</a:t>
            </a:r>
          </a:p>
          <a:p>
            <a:r>
              <a:rPr lang="en-US" dirty="0" err="1" smtClean="0">
                <a:latin typeface="TechnicBold" panose="00000400000000000000" pitchFamily="2" charset="2"/>
              </a:rPr>
              <a:t>Yuvaasree</a:t>
            </a:r>
            <a:r>
              <a:rPr lang="en-US" dirty="0" smtClean="0">
                <a:latin typeface="TechnicBold" panose="00000400000000000000" pitchFamily="2" charset="2"/>
              </a:rPr>
              <a:t> V</a:t>
            </a:r>
          </a:p>
          <a:p>
            <a:r>
              <a:rPr lang="en-US" dirty="0" err="1" smtClean="0">
                <a:latin typeface="TechnicBold" panose="00000400000000000000" pitchFamily="2" charset="2"/>
              </a:rPr>
              <a:t>Dharshitha</a:t>
            </a:r>
            <a:r>
              <a:rPr lang="en-US" dirty="0" smtClean="0">
                <a:latin typeface="TechnicBold" panose="00000400000000000000" pitchFamily="2" charset="2"/>
              </a:rPr>
              <a:t> R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22490" y="398004"/>
            <a:ext cx="2952360" cy="55923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 Sans"/>
                <a:cs typeface="Times New Roman" panose="02020603050405020304" pitchFamily="18" charset="0"/>
              </a:rPr>
              <a:t>INTRODUCTION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822490" y="1111838"/>
            <a:ext cx="2888009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Teachers"/>
              </a:rPr>
              <a:t>This project offers an easy and eco-friendly way to protect crops and livestock using smart sensors and alerts. It helps farmers keep their farms safe from animals and damage with minimal cost and effort.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0" name="Google Shape;211;p31"/>
          <p:cNvPicPr/>
          <p:nvPr/>
        </p:nvPicPr>
        <p:blipFill>
          <a:blip r:embed="rId2"/>
          <a:srcRect t="9069" b="9069"/>
          <a:stretch/>
        </p:blipFill>
        <p:spPr>
          <a:xfrm>
            <a:off x="3952324" y="957239"/>
            <a:ext cx="4851609" cy="3161339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216;p32"/>
          <p:cNvPicPr/>
          <p:nvPr/>
        </p:nvPicPr>
        <p:blipFill>
          <a:blip r:embed="rId2"/>
          <a:srcRect t="26025" b="26029"/>
          <a:stretch/>
        </p:blipFill>
        <p:spPr>
          <a:xfrm>
            <a:off x="546120" y="1993320"/>
            <a:ext cx="8168760" cy="261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971360" y="542880"/>
            <a:ext cx="4381200" cy="134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Book Antiqua" panose="02040602050305030304" pitchFamily="18" charset="0"/>
                <a:ea typeface="Cal Sans"/>
              </a:rPr>
              <a:t>Project Overview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Book Antiqua" panose="02040602050305030304" pitchFamily="18" charset="0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713764" y="795420"/>
            <a:ext cx="155232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 Sans"/>
              </a:rPr>
              <a:t>01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621062" y="225485"/>
            <a:ext cx="4514400" cy="7418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 Sans"/>
                <a:cs typeface="Times New Roman" panose="02020603050405020304" pitchFamily="18" charset="0"/>
              </a:rPr>
              <a:t>PROBLEM STATEMENT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391740" y="967299"/>
            <a:ext cx="8540664" cy="31815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just">
              <a:lnSpc>
                <a:spcPct val="170000"/>
              </a:lnSpc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Farmers face challenges protecting crops and livestock from wild animals and intruders. Traditional solutions like electrical fencing are harmful, costly, and not eco-</a:t>
            </a:r>
            <a:r>
              <a:rPr lang="en-US" sz="1400" b="0" u="none" strike="noStrike" dirty="0" err="1" smtClean="0">
                <a:solidFill>
                  <a:srgbClr val="000000"/>
                </a:solidFill>
                <a:effectLst/>
                <a:uFillTx/>
                <a:latin typeface="OpenSymbol"/>
              </a:rPr>
              <a:t>friendly.The</a:t>
            </a: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 proposed system uses PIR and ultrasonic sensors to detect intruders. When triggered, a relay-controlled buzzer/light and LED indicator alert nearby farmers, while a GSM module sends real-time SMS </a:t>
            </a:r>
            <a:r>
              <a:rPr lang="en-US" sz="1400" b="0" u="none" strike="noStrike" dirty="0" err="1" smtClean="0">
                <a:solidFill>
                  <a:srgbClr val="000000"/>
                </a:solidFill>
                <a:effectLst/>
                <a:uFillTx/>
                <a:latin typeface="OpenSymbol"/>
              </a:rPr>
              <a:t>notifications.A</a:t>
            </a: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 rain sensor monitors weather conditions, and the system can be powered by solar energy for autonomous use in remote </a:t>
            </a:r>
            <a:r>
              <a:rPr lang="en-US" sz="1400" b="0" u="none" strike="noStrike" dirty="0" err="1" smtClean="0">
                <a:solidFill>
                  <a:srgbClr val="000000"/>
                </a:solidFill>
                <a:effectLst/>
                <a:uFillTx/>
                <a:latin typeface="OpenSymbol"/>
              </a:rPr>
              <a:t>areas.This</a:t>
            </a: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 solution offers a safe, sustainable, and non-lethal method to protect agriculture while promoting eco-friendly farming practices</a:t>
            </a:r>
            <a:r>
              <a:rPr lang="en-US" sz="12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477478" y="342611"/>
            <a:ext cx="4514400" cy="2199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 Sans"/>
                <a:cs typeface="Times New Roman" panose="02020603050405020304" pitchFamily="18" charset="0"/>
              </a:rPr>
              <a:t>PROPOSED SOLUTION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830298" y="2136171"/>
            <a:ext cx="7573365" cy="221422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dirty="0" smtClean="0"/>
              <a:t>Our system is designed to protect farmland in a safe and eco-friendly way.</a:t>
            </a:r>
            <a:br>
              <a:rPr lang="en-US" sz="1300" dirty="0" smtClean="0"/>
            </a:br>
            <a:r>
              <a:rPr lang="en-US" sz="1300" dirty="0" smtClean="0"/>
              <a:t>It makes use of </a:t>
            </a:r>
            <a:r>
              <a:rPr lang="en-US" sz="1300" b="1" dirty="0" smtClean="0"/>
              <a:t>PIR sensor</a:t>
            </a:r>
            <a:r>
              <a:rPr lang="en-US" sz="1300" dirty="0" smtClean="0"/>
              <a:t> to detect motion, </a:t>
            </a:r>
            <a:r>
              <a:rPr lang="en-US" sz="1300" b="1" dirty="0" smtClean="0"/>
              <a:t>Ultrasonic sensor</a:t>
            </a:r>
            <a:r>
              <a:rPr lang="en-US" sz="1300" dirty="0" smtClean="0"/>
              <a:t> to verify animal or intruder presence and </a:t>
            </a:r>
            <a:r>
              <a:rPr lang="en-US" sz="1300" b="1" dirty="0" smtClean="0"/>
              <a:t>Rain sensor</a:t>
            </a:r>
            <a:r>
              <a:rPr lang="en-US" sz="1300" dirty="0" smtClean="0"/>
              <a:t> to monitor weather conditions.</a:t>
            </a:r>
            <a:br>
              <a:rPr lang="en-US" sz="1300" dirty="0" smtClean="0"/>
            </a:br>
            <a:endParaRPr lang="en-US" sz="1300" dirty="0" smtClean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dirty="0" smtClean="0"/>
              <a:t>All these sensors are connected to an </a:t>
            </a:r>
            <a:r>
              <a:rPr lang="en-US" sz="1300" b="1" dirty="0" smtClean="0"/>
              <a:t>Arduino Nano</a:t>
            </a:r>
            <a:r>
              <a:rPr lang="en-US" sz="1300" dirty="0" smtClean="0"/>
              <a:t> microcontroller, which acts as the brain of the system.</a:t>
            </a:r>
            <a:br>
              <a:rPr lang="en-US" sz="1300" dirty="0" smtClean="0"/>
            </a:br>
            <a:r>
              <a:rPr lang="en-US" sz="1300" dirty="0" smtClean="0"/>
              <a:t>When any unwanted movement is detected, the Arduino triggers a </a:t>
            </a:r>
            <a:r>
              <a:rPr lang="en-US" sz="1300" b="1" dirty="0" smtClean="0"/>
              <a:t>relay</a:t>
            </a:r>
            <a:r>
              <a:rPr lang="en-US" sz="1300" dirty="0" smtClean="0"/>
              <a:t> to activate a light or alarm, and at the same time, a </a:t>
            </a:r>
            <a:r>
              <a:rPr lang="en-US" sz="1300" b="1" dirty="0" smtClean="0"/>
              <a:t>GSM module</a:t>
            </a:r>
            <a:r>
              <a:rPr lang="en-US" sz="1300" dirty="0" smtClean="0"/>
              <a:t> sends an </a:t>
            </a:r>
            <a:r>
              <a:rPr lang="en-US" sz="1300" b="1" dirty="0" smtClean="0"/>
              <a:t>SMS alert</a:t>
            </a:r>
            <a:r>
              <a:rPr lang="en-US" sz="1300" dirty="0" smtClean="0"/>
              <a:t> to the farmer’s mobile phone.</a:t>
            </a:r>
            <a:br>
              <a:rPr lang="en-US" sz="1300" dirty="0" smtClean="0"/>
            </a:br>
            <a:endParaRPr lang="en-US" sz="1300" dirty="0" smtClean="0"/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300" dirty="0" smtClean="0"/>
              <a:t>This ensures that farmers are informed immediately and can take quick action.</a:t>
            </a:r>
            <a:br>
              <a:rPr lang="en-US" sz="1300" dirty="0" smtClean="0"/>
            </a:br>
            <a:r>
              <a:rPr lang="en-US" sz="1300" dirty="0" smtClean="0"/>
              <a:t>The system is </a:t>
            </a:r>
            <a:r>
              <a:rPr lang="en-US" sz="1300" b="1" dirty="0" smtClean="0"/>
              <a:t>low-cost, safe for animals and humans</a:t>
            </a:r>
            <a:r>
              <a:rPr lang="en-US" sz="1300" dirty="0" smtClean="0"/>
              <a:t>, and contributes to sustainable farming practices.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917739" y="285934"/>
            <a:ext cx="5422281" cy="6801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 Sans"/>
                <a:cs typeface="Times New Roman" panose="02020603050405020304" pitchFamily="18" charset="0"/>
              </a:rPr>
              <a:t>COMPONENTS OVERVIEW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361510" y="1147442"/>
            <a:ext cx="682522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Calibri"/>
                <a:ea typeface="Teachers"/>
              </a:rPr>
              <a:t>Microcontroller (Arduino Nano): Central unit that processes sensor inputs and controls outputs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Calibri"/>
                <a:ea typeface="Teachers"/>
              </a:rPr>
              <a:t>Motion Detection Sensors: Detect movement of animals or intruders.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Calibri"/>
                <a:ea typeface="Teachers"/>
              </a:rPr>
              <a:t>Relay Module: Works as a switch to activate deterrent devices safely.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Calibri"/>
                <a:ea typeface="Teachers"/>
              </a:rPr>
              <a:t>Deterrents (Buzzer/Light): Produce sound or light signals to scare away animals harmlessly.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Calibri"/>
                <a:ea typeface="Teachers"/>
              </a:rPr>
              <a:t>GSM Module: Sends real-time SMS alerts to farmers for quick 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Calibri"/>
                <a:ea typeface="Teachers"/>
              </a:rPr>
              <a:t>Rain Sensor: Monitors rainfall and provides environmental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Calibri"/>
                <a:ea typeface="Teachers"/>
              </a:rPr>
              <a:t>Power Supply (Battery): Ensures reliable and eco-friendly operation.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Calibri"/>
                <a:ea typeface="Teachers"/>
              </a:rPr>
              <a:t>Supporting Hardware: Includes resistors, wires, connectors, and enclosures for safe setup.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0" name="Google Shape;211;p31"/>
          <p:cNvPicPr/>
          <p:nvPr/>
        </p:nvPicPr>
        <p:blipFill>
          <a:blip r:embed="rId2"/>
          <a:srcRect t="9069" b="9069"/>
          <a:stretch/>
        </p:blipFill>
        <p:spPr>
          <a:xfrm>
            <a:off x="6468813" y="2244436"/>
            <a:ext cx="2418248" cy="19344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216;p32"/>
          <p:cNvPicPr/>
          <p:nvPr/>
        </p:nvPicPr>
        <p:blipFill>
          <a:blip r:embed="rId2"/>
          <a:srcRect t="26025" b="26029"/>
          <a:stretch/>
        </p:blipFill>
        <p:spPr>
          <a:xfrm>
            <a:off x="546120" y="1993320"/>
            <a:ext cx="8168760" cy="261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359241" y="344160"/>
            <a:ext cx="6819840" cy="134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Book Antiqua" panose="02040602050305030304" pitchFamily="18" charset="0"/>
                <a:ea typeface="Cal Sans"/>
              </a:rPr>
              <a:t>System Operation and Benefits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Book Antiqua" panose="02040602050305030304" pitchFamily="18" charset="0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419040" y="542880"/>
            <a:ext cx="155232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 Sans"/>
              </a:rPr>
              <a:t>02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093296" y="342518"/>
            <a:ext cx="5193126" cy="77204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 Sans"/>
                <a:cs typeface="Times New Roman" panose="02020603050405020304" pitchFamily="18" charset="0"/>
              </a:rPr>
              <a:t>WORKING PRINCIPLE FLOW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97537" y="1231795"/>
            <a:ext cx="8495323" cy="312106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/>
              <a:t>PIR Sensor</a:t>
            </a:r>
            <a:r>
              <a:rPr lang="en-US" sz="1400" dirty="0" smtClean="0"/>
              <a:t> continuously monitors for any motion near the field.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If motion is detected → </a:t>
            </a:r>
            <a:r>
              <a:rPr lang="en-US" sz="1400" b="1" dirty="0" smtClean="0"/>
              <a:t>Ultrasonic Sensor</a:t>
            </a:r>
            <a:r>
              <a:rPr lang="en-US" sz="1400" dirty="0" smtClean="0"/>
              <a:t> verifies the distance of the object (to confirm animal/intruder).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If verification is positive → Arduino activates the </a:t>
            </a:r>
            <a:r>
              <a:rPr lang="en-US" sz="1400" b="1" dirty="0" smtClean="0"/>
              <a:t>Relay</a:t>
            </a:r>
            <a:r>
              <a:rPr lang="en-US" sz="1400" dirty="0" smtClean="0"/>
              <a:t>, which switches ON a </a:t>
            </a:r>
            <a:r>
              <a:rPr lang="en-US" sz="1400" b="1" dirty="0" smtClean="0"/>
              <a:t>light/alarm</a:t>
            </a:r>
            <a:r>
              <a:rPr lang="en-US" sz="1400" dirty="0" smtClean="0"/>
              <a:t> to scare away intruders.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Simultaneously, the </a:t>
            </a:r>
            <a:r>
              <a:rPr lang="en-US" sz="1400" b="1" dirty="0" smtClean="0"/>
              <a:t>GSM Module</a:t>
            </a:r>
            <a:r>
              <a:rPr lang="en-US" sz="1400" dirty="0" smtClean="0"/>
              <a:t> sends an </a:t>
            </a:r>
            <a:r>
              <a:rPr lang="en-US" sz="1400" b="1" dirty="0" smtClean="0"/>
              <a:t>SMS alert</a:t>
            </a:r>
            <a:r>
              <a:rPr lang="en-US" sz="1400" dirty="0" smtClean="0"/>
              <a:t> to the farmer’s mobile phone.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/>
              <a:t>Rain Sensor</a:t>
            </a:r>
            <a:r>
              <a:rPr lang="en-US" sz="1400" dirty="0" smtClean="0"/>
              <a:t> keeps monitoring the weather and can also be used for automatic irrigation or weather alerts.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Once the intruder/animal leaves → sensors reset and the system goes back to monitoring mode.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672" y="0"/>
            <a:ext cx="477936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6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643733" y="255713"/>
            <a:ext cx="4514400" cy="63601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 Sans"/>
                <a:cs typeface="Times New Roman" panose="02020603050405020304" pitchFamily="18" charset="0"/>
              </a:rPr>
              <a:t>KEY ADVANTAGES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830046" y="1133554"/>
            <a:ext cx="7414667" cy="31890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ea typeface="Teachers"/>
              </a:rPr>
              <a:t>Safe &amp; Humane: Protects crops and livestock without harming animals or humans.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ea typeface="Teachers"/>
              </a:rPr>
              <a:t>Eco-Friendly: Operates on renewable energy sources like solar power.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ea typeface="Teachers"/>
              </a:rPr>
              <a:t>Cost-Effective: Reduces expenses compared to traditional fencing or manual guarding.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ea typeface="Teachers"/>
              </a:rPr>
              <a:t>Real-Time Alerts: Sends instant notifications to farmers, enabling quick response.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ea typeface="Teachers"/>
              </a:rPr>
              <a:t>Autonomous Operation: Works continuously with minimal human intervention.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ea typeface="Teachers"/>
              </a:rPr>
              <a:t>Reliable in Remote Areas: Functions even in off-grid locations with poor power supply.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ea typeface="Teachers"/>
              </a:rPr>
              <a:t>Multi-Functional: Provides both intruder detection and weather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ea typeface="Teachers"/>
              </a:rPr>
              <a:t>Promotes Sustainable Farming: Encourages modern, ethical, and environment-friendly practices.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061842" y="272053"/>
            <a:ext cx="5737008" cy="65747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 Sans"/>
                <a:cs typeface="Times New Roman" panose="02020603050405020304" pitchFamily="18" charset="0"/>
              </a:rPr>
              <a:t>FUTURE ENHANCEMENTS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49914" y="853944"/>
            <a:ext cx="4815052" cy="14962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Mobile App Integration: A dedicated smartphone app can provide real-time notifications, remote control of deterrent devices, and live monitoring of the farm.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AI &amp; Machine Learning: Smart algorithms can analyze sensor data to differentiate between humans, large animals, and false triggers (like wind or small objects).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Camera Surveillance: Adding cameras for image or video capture will help farmers visually confirm intrusions and gather evidence when needed.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Wireless Networking: Linking multiple systems together across large farms can provide wide coverage and coordinated protection.</a:t>
            </a:r>
          </a:p>
        </p:txBody>
      </p:sp>
      <p:pic>
        <p:nvPicPr>
          <p:cNvPr id="90" name="Google Shape;211;p31"/>
          <p:cNvPicPr/>
          <p:nvPr/>
        </p:nvPicPr>
        <p:blipFill>
          <a:blip r:embed="rId2"/>
          <a:srcRect t="9069" b="9069"/>
          <a:stretch/>
        </p:blipFill>
        <p:spPr>
          <a:xfrm>
            <a:off x="5161448" y="1617408"/>
            <a:ext cx="3530760" cy="2833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036699" y="112970"/>
            <a:ext cx="2952360" cy="5970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 Sans"/>
                <a:cs typeface="Times New Roman" panose="02020603050405020304" pitchFamily="18" charset="0"/>
              </a:rPr>
              <a:t>CONCLUSION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527767" y="1337593"/>
            <a:ext cx="8125027" cy="26978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</a:rPr>
              <a:t>  The Safe and Eco-Friendly Crop &amp; Livestock Security System addresses one of the most pressing challenges in agriculture—protecting crops and livestock without harming animals or the environment.</a:t>
            </a:r>
          </a:p>
          <a:p>
            <a:pPr algn="just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</a:rPr>
              <a:t>By combining modern technology with sustainable practices, the system </a:t>
            </a:r>
            <a:r>
              <a:rPr lang="en-US" sz="1400" b="0" u="none" strike="noStrike" dirty="0" err="1" smtClean="0">
                <a:solidFill>
                  <a:srgbClr val="000000"/>
                </a:solidFill>
                <a:effectLst/>
                <a:uFillTx/>
              </a:rPr>
              <a:t>offers:Real-time</a:t>
            </a: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</a:rPr>
              <a:t> detection and alerts that enable farmers to respond </a:t>
            </a:r>
            <a:r>
              <a:rPr lang="en-US" sz="1400" b="0" u="none" strike="noStrike" dirty="0" err="1" smtClean="0">
                <a:solidFill>
                  <a:srgbClr val="000000"/>
                </a:solidFill>
                <a:effectLst/>
                <a:uFillTx/>
              </a:rPr>
              <a:t>quickly.Non</a:t>
            </a: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</a:rPr>
              <a:t>-lethal deterrents that keep animals and intruders away </a:t>
            </a:r>
            <a:r>
              <a:rPr lang="en-US" sz="1400" b="0" u="none" strike="noStrike" dirty="0" err="1" smtClean="0">
                <a:solidFill>
                  <a:srgbClr val="000000"/>
                </a:solidFill>
                <a:effectLst/>
                <a:uFillTx/>
              </a:rPr>
              <a:t>safely.Renewable</a:t>
            </a: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</a:rPr>
              <a:t> energy operation, making it ideal for rural and remote areas.</a:t>
            </a:r>
          </a:p>
          <a:p>
            <a:pPr algn="just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</a:rPr>
              <a:t>A cost-effective and low-maintenance design, accessible to farmers of all </a:t>
            </a:r>
            <a:r>
              <a:rPr lang="en-US" sz="1400" b="0" u="none" strike="noStrike" dirty="0" err="1" smtClean="0">
                <a:solidFill>
                  <a:srgbClr val="000000"/>
                </a:solidFill>
                <a:effectLst/>
                <a:uFillTx/>
              </a:rPr>
              <a:t>scales.This</a:t>
            </a: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</a:rPr>
              <a:t> project not only protects farmers’ livelihoods but also supports sustainable farming, food security, and environmental conservation. </a:t>
            </a:r>
          </a:p>
          <a:p>
            <a:pPr algn="just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rgbClr val="000000"/>
                </a:solidFill>
                <a:effectLst/>
                <a:uFillTx/>
              </a:rPr>
              <a:t>It is a step toward building a future where technology and agriculture work hand in hand to ensure safety, productivity, and eco-friendliness.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836149" y="2044821"/>
            <a:ext cx="3790440" cy="9541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0" u="none" strike="noStrike" dirty="0" smtClean="0">
                <a:solidFill>
                  <a:schemeClr val="dk1"/>
                </a:solidFill>
                <a:effectLst/>
                <a:uFillTx/>
                <a:latin typeface="Brush Script MT" panose="03060802040406070304" pitchFamily="66" charset="0"/>
                <a:ea typeface="Cal Sans"/>
              </a:rPr>
              <a:t>Thank You</a:t>
            </a:r>
            <a:endParaRPr lang="fr-FR" sz="5000" b="0" u="none" strike="noStrike" dirty="0">
              <a:solidFill>
                <a:schemeClr val="dk1"/>
              </a:solidFill>
              <a:effectLst/>
              <a:uFillTx/>
              <a:latin typeface="Brush Script MT" panose="03060802040406070304" pitchFamily="66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87498" y="3415775"/>
            <a:ext cx="4511543" cy="8237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own Hall Pitch Deck by Slidesgo">
  <a:themeElements>
    <a:clrScheme name="Simple Light">
      <a:dk1>
        <a:srgbClr val="131212"/>
      </a:dk1>
      <a:lt1>
        <a:srgbClr val="FFFFFF"/>
      </a:lt1>
      <a:dk2>
        <a:srgbClr val="D0EDFF"/>
      </a:dk2>
      <a:lt2>
        <a:srgbClr val="A3D9FA"/>
      </a:lt2>
      <a:accent1>
        <a:srgbClr val="84C1E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121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833</Words>
  <Application>Microsoft Office PowerPoint</Application>
  <PresentationFormat>On-screen Show (16:9)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Arial</vt:lpstr>
      <vt:lpstr>Berlin Sans FB Demi</vt:lpstr>
      <vt:lpstr>Book Antiqua</vt:lpstr>
      <vt:lpstr>Brush Script MT</vt:lpstr>
      <vt:lpstr>Cal Sans</vt:lpstr>
      <vt:lpstr>Calibri</vt:lpstr>
      <vt:lpstr>Californian FB</vt:lpstr>
      <vt:lpstr>OpenSymbol</vt:lpstr>
      <vt:lpstr>Symbol</vt:lpstr>
      <vt:lpstr>Teachers</vt:lpstr>
      <vt:lpstr>TechnicBold</vt:lpstr>
      <vt:lpstr>Times New Roman</vt:lpstr>
      <vt:lpstr>Wingdings</vt:lpstr>
      <vt:lpstr>Town Hall Pitch Deck by Slidesgo</vt:lpstr>
      <vt:lpstr>Slidesgo Final Pages</vt:lpstr>
      <vt:lpstr>Crop  Security</vt:lpstr>
      <vt:lpstr>INTRODUCTION</vt:lpstr>
      <vt:lpstr>Project Overview</vt:lpstr>
      <vt:lpstr>PROBLEM STATEMENT</vt:lpstr>
      <vt:lpstr>PROPOSED SOLUTION</vt:lpstr>
      <vt:lpstr>COMPONENTS OVERVIEW</vt:lpstr>
      <vt:lpstr>System Operation and Benefits</vt:lpstr>
      <vt:lpstr>WORKING PRINCIPLE FLOW</vt:lpstr>
      <vt:lpstr>PowerPoint Presentation</vt:lpstr>
      <vt:lpstr>KEY ADVANTAGES</vt:lpstr>
      <vt:lpstr>FUTURE ENHANCEMENTS</vt:lpstr>
      <vt:lpstr>CONCLUSION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 Security</dc:title>
  <cp:lastModifiedBy>Asus Tuf Gaming</cp:lastModifiedBy>
  <cp:revision>8</cp:revision>
  <dcterms:modified xsi:type="dcterms:W3CDTF">2025-09-17T08:47:58Z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2025-09-17T06:41:25Z</dcterms:created>
  <dc:creator>Unknown Creator</dc:creator>
  <dc:description/>
  <dc:language>en-US</dc:language>
  <cp:lastModifiedBy>Unknown Creator</cp:lastModifiedBy>
  <dcterms:modified xsi:type="dcterms:W3CDTF">2025-09-17T06:41:25Z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